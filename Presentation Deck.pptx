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9C830-917F-6583-B638-A0EFF9321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27E42-3A0A-C0DA-AEC6-DA47FCD81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39A2C-1F27-6085-4BA2-6AB83B3F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2038-A6DF-B445-2367-C5484F7A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03183-F490-33EC-41E7-B6A92026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0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9A2F-D174-B277-64C3-5ECEF1BB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4C78-C9AA-F784-892F-DD7050533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2D93-D647-75D1-0CCF-C0BD1AC1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81BF5-45A7-443B-484B-D79E2397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AA11C-A37C-2989-2AF3-C5AC04CC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1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3289-849A-2671-EAB2-D097E8D1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E388-102E-988C-38EC-719B5C934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EE953-7CC4-C4C2-D6C5-38B43D81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C6074-5D5D-72FE-917A-7043F4C7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4EE18-690D-C203-1B5B-3F5AE0C4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1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01D1-E746-91CF-F735-81BCFAB8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17C95-0FF4-0A6B-41CB-CB1B40771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D258-97EF-5685-3C74-26DE3FE57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5649C-80D5-9A62-547C-DF70DCDC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ABD96-C9DE-AFE2-7FA1-B0A10974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36EFD-E586-CB98-D121-9DA6EF79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8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BC43-4CA1-C209-6F89-2FF616B8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BB309-5B46-6384-EA3F-A0988F848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3D975-9FDC-A325-9CAF-30AD868D0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4FE53-ABE5-50AF-947A-9CC120C59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94364-7065-B90A-5771-84886CD85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D3208-1334-3952-5530-DEE7E845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7F0C4-96C8-0D50-648F-9062D564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95B75-A128-D02F-BB35-90F28F52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1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7256-6145-9F44-077B-D0F2C63D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8E3E2-A45E-A8B1-9454-B263D7B5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4FB9A-2D81-E34C-AE20-271CE564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BDCEF-DEE3-B8BF-95B3-EFD86F80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E5E3B-C88B-C3C1-28C8-293AB361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88205-1DE3-B0D3-EF41-3C8B2F3C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141DA-5A9B-0570-B504-87CE79D2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6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967C-4C62-C47A-8020-4750C6031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4026-030F-2ADB-E256-A17FFD62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62051-6E43-7661-DD5F-44204501D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DFF51-3C29-A1F2-9213-EFDCC893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E8D45-E5CC-885A-BA9E-8B2FE62D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CF7BB-ECF7-6CF2-8C17-992B2054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C6A6-845A-5D83-2AE0-7AC50F43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47FD0-9742-82AB-067A-E9113F3A6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EBE1B-4FEF-CD0A-706F-24791AF78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00FD8-0BB7-2362-F104-61B7142E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93FCC-6FF2-EEFA-AA98-CBDBFD7E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7EA0E-C891-5845-63F6-9A81FD16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1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E235-E410-2DA8-7B82-8A35FBE7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2CEFA-13FD-2FDF-0178-2D3468263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BB46-7FBE-D767-A026-1597678A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F6E79-3061-8B27-57F6-3560A4BB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BE47D-988C-E7A8-278E-775DCED0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8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73EEAF-8581-10CE-D583-E7BC8A6A0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1CF2B-4179-9E7D-1E4A-C8353DBE9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78B50-4BF4-00E7-102D-D561C743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EB580-4B8C-D417-3A0A-970DCBC7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A754D-270D-A9F1-1DC4-47C6CAF5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  <a:alpha val="68000"/>
              </a:schemeClr>
            </a:gs>
            <a:gs pos="51000">
              <a:schemeClr val="accent5">
                <a:lumMod val="45000"/>
                <a:lumOff val="55000"/>
                <a:alpha val="64000"/>
              </a:schemeClr>
            </a:gs>
            <a:gs pos="72000">
              <a:schemeClr val="accent5">
                <a:lumMod val="45000"/>
                <a:lumOff val="55000"/>
                <a:alpha val="54000"/>
              </a:schemeClr>
            </a:gs>
            <a:gs pos="90000">
              <a:schemeClr val="accent5">
                <a:alpha val="69000"/>
                <a:lumMod val="36000"/>
                <a:lumOff val="64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28B8D-8029-DEE2-129A-B79F07C2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77D5D-DD6F-A0CF-43B4-274EC1244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3A6FB-0087-5EDA-05DB-3E41A5BF7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193C-BF6D-4972-9F52-982AF60971EC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2AACE-DC80-AAD8-C6F9-DC3AF23E5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F60DB-4E7A-D60C-56A0-190569CB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FDA6A-FF0F-4873-87DC-9A361460C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2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hyaSM31/retail-bank-segmentation-ag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drive.google.com/file/d/1SuNwCxlzHUvPdeqxf7eHyDWiXkeIIC5p/view?usp=shari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AF5E8F5C-83F8-27F8-F03E-6C3065A65FC9}"/>
              </a:ext>
            </a:extLst>
          </p:cNvPr>
          <p:cNvSpPr/>
          <p:nvPr/>
        </p:nvSpPr>
        <p:spPr>
          <a:xfrm>
            <a:off x="661475" y="741462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 &amp; Personalization Agent for Retail Banking</a:t>
            </a:r>
            <a:endParaRPr lang="en-US" sz="23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B133D66-5141-4C8C-68E7-F872C649AAFA}"/>
              </a:ext>
            </a:extLst>
          </p:cNvPr>
          <p:cNvSpPr/>
          <p:nvPr/>
        </p:nvSpPr>
        <p:spPr>
          <a:xfrm>
            <a:off x="661475" y="1224558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AI agent replacing one-size-fits-all banking marketing — analyzing 1M+ transactions, segmenting customers, and recommending personalized products via natural language.</a:t>
            </a:r>
            <a:endParaRPr lang="en-US" sz="9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25F14F8-3D75-E754-84C5-26E4D4A7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07" y="1494235"/>
            <a:ext cx="7064595" cy="3098998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7ACD1D19-EFB0-6807-CAC8-C9DEC1D6ACD0}"/>
              </a:ext>
            </a:extLst>
          </p:cNvPr>
          <p:cNvSpPr/>
          <p:nvPr/>
        </p:nvSpPr>
        <p:spPr>
          <a:xfrm>
            <a:off x="1112450" y="1823089"/>
            <a:ext cx="1067721" cy="20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952C2EE-0F1A-15EC-19D3-4A9A5FE8E9B0}"/>
              </a:ext>
            </a:extLst>
          </p:cNvPr>
          <p:cNvSpPr/>
          <p:nvPr/>
        </p:nvSpPr>
        <p:spPr>
          <a:xfrm>
            <a:off x="1112450" y="2078210"/>
            <a:ext cx="1067721" cy="245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NL query in chat </a:t>
            </a:r>
            <a:endParaRPr lang="en-US" sz="9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5C29936-6B88-CFA2-3597-46D11B4B6C29}"/>
              </a:ext>
            </a:extLst>
          </p:cNvPr>
          <p:cNvSpPr/>
          <p:nvPr/>
        </p:nvSpPr>
        <p:spPr>
          <a:xfrm>
            <a:off x="2771012" y="3741274"/>
            <a:ext cx="1067721" cy="20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786C8B3-F5F9-3BA5-42FB-36B9CFDEB10C}"/>
              </a:ext>
            </a:extLst>
          </p:cNvPr>
          <p:cNvSpPr/>
          <p:nvPr/>
        </p:nvSpPr>
        <p:spPr>
          <a:xfrm>
            <a:off x="2771012" y="3996395"/>
            <a:ext cx="1067721" cy="36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parses intent, selects tools</a:t>
            </a:r>
            <a:endParaRPr lang="en-US" sz="9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454CDF3-F874-C3B8-0C4A-F0CF657960D1}"/>
              </a:ext>
            </a:extLst>
          </p:cNvPr>
          <p:cNvSpPr/>
          <p:nvPr/>
        </p:nvSpPr>
        <p:spPr>
          <a:xfrm>
            <a:off x="4490750" y="1823089"/>
            <a:ext cx="1067721" cy="20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Tool Chain</a:t>
            </a:r>
            <a:endParaRPr lang="en-US" sz="12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D9DA2E64-AC0A-7BC2-1BA5-8CCCB826DA6B}"/>
              </a:ext>
            </a:extLst>
          </p:cNvPr>
          <p:cNvSpPr/>
          <p:nvPr/>
        </p:nvSpPr>
        <p:spPr>
          <a:xfrm>
            <a:off x="4490750" y="2078210"/>
            <a:ext cx="1067721" cy="36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chain of 25 specialized tools</a:t>
            </a:r>
            <a:endParaRPr lang="en-US" sz="9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F448AFE4-13A8-7EF0-B839-AB934678309D}"/>
              </a:ext>
            </a:extLst>
          </p:cNvPr>
          <p:cNvSpPr/>
          <p:nvPr/>
        </p:nvSpPr>
        <p:spPr>
          <a:xfrm>
            <a:off x="5918602" y="3540533"/>
            <a:ext cx="1531736" cy="40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31FA77F-65EB-90DD-073C-0AA6C41739AF}"/>
              </a:ext>
            </a:extLst>
          </p:cNvPr>
          <p:cNvSpPr/>
          <p:nvPr/>
        </p:nvSpPr>
        <p:spPr>
          <a:xfrm>
            <a:off x="6150609" y="3859352"/>
            <a:ext cx="1067721" cy="36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products with explainability</a:t>
            </a:r>
            <a:endParaRPr lang="en-US" sz="9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08C81DC-6B8D-25AE-6577-7318C5AD8345}"/>
              </a:ext>
            </a:extLst>
          </p:cNvPr>
          <p:cNvSpPr/>
          <p:nvPr/>
        </p:nvSpPr>
        <p:spPr>
          <a:xfrm>
            <a:off x="661475" y="4629547"/>
            <a:ext cx="10868745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dynamically chains a subset of 25 specialized tools — EDA, Feature Engineering, Segmentation, Explainability, Recommendation, Visualization — into a multi-step pipeline executed fully autonomously.</a:t>
            </a:r>
            <a:endParaRPr lang="en-US" sz="9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676C12D4-0529-6F55-E581-00450C06593C}"/>
              </a:ext>
            </a:extLst>
          </p:cNvPr>
          <p:cNvSpPr/>
          <p:nvPr/>
        </p:nvSpPr>
        <p:spPr>
          <a:xfrm>
            <a:off x="661475" y="4831505"/>
            <a:ext cx="5399250" cy="622201"/>
          </a:xfrm>
          <a:prstGeom prst="roundRect">
            <a:avLst>
              <a:gd name="adj" fmla="val 777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F09C93E-F762-56E3-40D4-21163D9F1C79}"/>
              </a:ext>
            </a:extLst>
          </p:cNvPr>
          <p:cNvSpPr/>
          <p:nvPr/>
        </p:nvSpPr>
        <p:spPr>
          <a:xfrm>
            <a:off x="782916" y="4952949"/>
            <a:ext cx="515636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B4BC52F-6CE1-0245-E4A6-7FFE8E1F0DA3}"/>
              </a:ext>
            </a:extLst>
          </p:cNvPr>
          <p:cNvSpPr/>
          <p:nvPr/>
        </p:nvSpPr>
        <p:spPr>
          <a:xfrm>
            <a:off x="782916" y="5184030"/>
            <a:ext cx="515636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Glassmorphism UI</a:t>
            </a:r>
            <a:endParaRPr lang="en-US" sz="9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E24F1F24-B97C-BF12-8E67-C044BAF03BB9}"/>
              </a:ext>
            </a:extLst>
          </p:cNvPr>
          <p:cNvSpPr/>
          <p:nvPr/>
        </p:nvSpPr>
        <p:spPr>
          <a:xfrm>
            <a:off x="6130871" y="4831505"/>
            <a:ext cx="5399349" cy="622201"/>
          </a:xfrm>
          <a:prstGeom prst="roundRect">
            <a:avLst>
              <a:gd name="adj" fmla="val 777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A366BDEC-48F5-794C-FD64-7D0F9BEAE1B4}"/>
              </a:ext>
            </a:extLst>
          </p:cNvPr>
          <p:cNvSpPr/>
          <p:nvPr/>
        </p:nvSpPr>
        <p:spPr>
          <a:xfrm>
            <a:off x="6252312" y="4952949"/>
            <a:ext cx="51564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FastAPI</a:t>
            </a:r>
            <a:endParaRPr lang="en-US" sz="11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5C576D98-D205-36C9-CF08-11AC5E8FB7FE}"/>
              </a:ext>
            </a:extLst>
          </p:cNvPr>
          <p:cNvSpPr/>
          <p:nvPr/>
        </p:nvSpPr>
        <p:spPr>
          <a:xfrm>
            <a:off x="6252312" y="5184030"/>
            <a:ext cx="515646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backend</a:t>
            </a:r>
            <a:endParaRPr lang="en-US" sz="90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4B160058-AF26-A689-7439-2DECF6E3CA37}"/>
              </a:ext>
            </a:extLst>
          </p:cNvPr>
          <p:cNvSpPr/>
          <p:nvPr/>
        </p:nvSpPr>
        <p:spPr>
          <a:xfrm>
            <a:off x="661475" y="5548214"/>
            <a:ext cx="5399250" cy="622201"/>
          </a:xfrm>
          <a:prstGeom prst="roundRect">
            <a:avLst>
              <a:gd name="adj" fmla="val 777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FDF541C-38EC-95D1-46EF-8059104C39A8}"/>
              </a:ext>
            </a:extLst>
          </p:cNvPr>
          <p:cNvSpPr/>
          <p:nvPr/>
        </p:nvSpPr>
        <p:spPr>
          <a:xfrm>
            <a:off x="782916" y="5645298"/>
            <a:ext cx="515636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B2B104D-299F-1C42-07C6-9BE8A62D1BF2}"/>
              </a:ext>
            </a:extLst>
          </p:cNvPr>
          <p:cNvSpPr/>
          <p:nvPr/>
        </p:nvSpPr>
        <p:spPr>
          <a:xfrm>
            <a:off x="782916" y="5876378"/>
            <a:ext cx="515636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orchestration</a:t>
            </a:r>
            <a:endParaRPr lang="en-US" sz="9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92654B70-A47E-C720-43AE-9E7D3962307A}"/>
              </a:ext>
            </a:extLst>
          </p:cNvPr>
          <p:cNvSpPr/>
          <p:nvPr/>
        </p:nvSpPr>
        <p:spPr>
          <a:xfrm>
            <a:off x="6150609" y="5548214"/>
            <a:ext cx="5399349" cy="622201"/>
          </a:xfrm>
          <a:prstGeom prst="roundRect">
            <a:avLst>
              <a:gd name="adj" fmla="val 777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600E4B81-A10E-D9E0-C7FC-753E1F10BA3C}"/>
              </a:ext>
            </a:extLst>
          </p:cNvPr>
          <p:cNvSpPr/>
          <p:nvPr/>
        </p:nvSpPr>
        <p:spPr>
          <a:xfrm>
            <a:off x="6252312" y="5645298"/>
            <a:ext cx="51564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GPT-4o-mini</a:t>
            </a:r>
            <a:endParaRPr lang="en-US" sz="11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F032F816-570C-8D83-86D6-91C09DC41923}"/>
              </a:ext>
            </a:extLst>
          </p:cNvPr>
          <p:cNvSpPr/>
          <p:nvPr/>
        </p:nvSpPr>
        <p:spPr>
          <a:xfrm>
            <a:off x="6252312" y="5876378"/>
            <a:ext cx="515646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reasoning</a:t>
            </a:r>
            <a:endParaRPr lang="en-US" sz="9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139113-6291-56F0-B2E4-DE0F8E7BF4E7}"/>
              </a:ext>
            </a:extLst>
          </p:cNvPr>
          <p:cNvSpPr/>
          <p:nvPr/>
        </p:nvSpPr>
        <p:spPr>
          <a:xfrm>
            <a:off x="14725" y="-10"/>
            <a:ext cx="153638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Team: Kurkure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9A583A-0C00-9924-031F-2BBE80671416}"/>
              </a:ext>
            </a:extLst>
          </p:cNvPr>
          <p:cNvSpPr/>
          <p:nvPr/>
        </p:nvSpPr>
        <p:spPr>
          <a:xfrm>
            <a:off x="8381235" y="12417"/>
            <a:ext cx="379604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</a:t>
            </a:r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Member: Adithya Sankar Menon</a:t>
            </a:r>
            <a:endParaRPr lang="en-GB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0CF5D29-EC4B-D850-CC55-DD895841B267}"/>
              </a:ext>
            </a:extLst>
          </p:cNvPr>
          <p:cNvSpPr/>
          <p:nvPr/>
        </p:nvSpPr>
        <p:spPr>
          <a:xfrm>
            <a:off x="3381554" y="6199252"/>
            <a:ext cx="5448991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GitHub Repo Link: </a:t>
            </a:r>
            <a:r>
              <a:rPr lang="en-GB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https://github.com/AdithyaSM31/retail-bank-segmentation-agent</a:t>
            </a:r>
            <a:endParaRPr lang="en-GB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E85BD90-6F66-73F9-5E00-87856C285367}"/>
              </a:ext>
            </a:extLst>
          </p:cNvPr>
          <p:cNvSpPr/>
          <p:nvPr/>
        </p:nvSpPr>
        <p:spPr>
          <a:xfrm>
            <a:off x="2601596" y="6505088"/>
            <a:ext cx="700890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Video Demo Link: </a:t>
            </a:r>
            <a:r>
              <a:rPr lang="en-GB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https://drive.google.com/file/d/1SuNwCxlzHUvPdeqxf7eHyDWiXkeIIC5p/view?usp=sharing</a:t>
            </a:r>
            <a:endParaRPr lang="en-GB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AC35F6E-C2EA-A7AB-4DCB-9D15F1D772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666" y="1556321"/>
            <a:ext cx="4292408" cy="286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0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E0F38672-71CD-5A62-A191-BB6C0106FB05}"/>
              </a:ext>
            </a:extLst>
          </p:cNvPr>
          <p:cNvSpPr/>
          <p:nvPr/>
        </p:nvSpPr>
        <p:spPr>
          <a:xfrm>
            <a:off x="5233360" y="854869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Makes This Stand Out</a:t>
            </a:r>
            <a:endParaRPr lang="en-US" sz="31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5E2E520-11A4-FF6F-22A9-BCD8D8274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3360" y="1532434"/>
            <a:ext cx="6296860" cy="1096466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C8DED46-6CBC-E60E-670E-0E89DFF27956}"/>
              </a:ext>
            </a:extLst>
          </p:cNvPr>
          <p:cNvSpPr/>
          <p:nvPr/>
        </p:nvSpPr>
        <p:spPr>
          <a:xfrm>
            <a:off x="5479814" y="1702693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True Agentic Autonomy</a:t>
            </a:r>
            <a:endParaRPr lang="en-US" sz="15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9D5C86E-C0F9-2CE1-407B-7E47466EF897}"/>
              </a:ext>
            </a:extLst>
          </p:cNvPr>
          <p:cNvSpPr/>
          <p:nvPr/>
        </p:nvSpPr>
        <p:spPr>
          <a:xfrm>
            <a:off x="5479814" y="2023269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deterministic multi-step pipelines — Engineer Features → ML Clustering → Plot Distributions — fully autonomously based on query context.</a:t>
            </a:r>
            <a:endParaRPr lang="en-US" sz="115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94D7A78-C565-B6AB-CF46-B0CFEBE25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3360" y="2749848"/>
            <a:ext cx="6296860" cy="109646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371738CD-17C0-A3B7-C8E2-6D740CA548DE}"/>
              </a:ext>
            </a:extLst>
          </p:cNvPr>
          <p:cNvSpPr/>
          <p:nvPr/>
        </p:nvSpPr>
        <p:spPr>
          <a:xfrm>
            <a:off x="5479814" y="2920107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Dual-Method Segmentation</a:t>
            </a:r>
            <a:endParaRPr lang="en-US" sz="15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1CE4C40-091F-0A7B-3851-4065EEB2FD55}"/>
              </a:ext>
            </a:extLst>
          </p:cNvPr>
          <p:cNvSpPr/>
          <p:nvPr/>
        </p:nvSpPr>
        <p:spPr>
          <a:xfrm>
            <a:off x="5479814" y="3240683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(Priority/Dormant/Regular) + MiniBatchKMeans with automatic Silhouette Score optimization.</a:t>
            </a:r>
            <a:endParaRPr lang="en-US" sz="1150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CF986079-F88A-7572-E6BE-27679959B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3360" y="3967262"/>
            <a:ext cx="6296860" cy="1096466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18437898-70C3-CF3D-20EB-ED683CEB87C4}"/>
              </a:ext>
            </a:extLst>
          </p:cNvPr>
          <p:cNvSpPr/>
          <p:nvPr/>
        </p:nvSpPr>
        <p:spPr>
          <a:xfrm>
            <a:off x="5479814" y="4137521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Explainability Engine</a:t>
            </a:r>
            <a:endParaRPr lang="en-US" sz="155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285B9F4-19CD-AD45-4C7E-108A2057F795}"/>
              </a:ext>
            </a:extLst>
          </p:cNvPr>
          <p:cNvSpPr/>
          <p:nvPr/>
        </p:nvSpPr>
        <p:spPr>
          <a:xfrm>
            <a:off x="5479814" y="4458097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explains exactly why each customer was assigned to a segment — feature thresholds, contribution scores, and decision boundaries.</a:t>
            </a:r>
            <a:endParaRPr lang="en-US" sz="1150" dirty="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3E0754FF-1814-1E87-C2CE-051E28FB0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3360" y="5184676"/>
            <a:ext cx="6296860" cy="1096466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E89169E8-74A5-EE2B-5753-AA951156C871}"/>
              </a:ext>
            </a:extLst>
          </p:cNvPr>
          <p:cNvSpPr/>
          <p:nvPr/>
        </p:nvSpPr>
        <p:spPr>
          <a:xfrm>
            <a:off x="5479814" y="5354935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Premium Glassmorphism UX</a:t>
            </a:r>
            <a:endParaRPr lang="en-US" sz="155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E42F77D-10A3-480F-12E4-F07B82515687}"/>
              </a:ext>
            </a:extLst>
          </p:cNvPr>
          <p:cNvSpPr/>
          <p:nvPr/>
        </p:nvSpPr>
        <p:spPr>
          <a:xfrm>
            <a:off x="5479814" y="567551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GPU-optimized animated dashboard with interactive Plotly charts — analytics teams actually enjoy using it.</a:t>
            </a:r>
            <a:endParaRPr lang="en-US" sz="11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7B20C9C-8F84-1560-592E-78391A1C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66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5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239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Inter</vt:lpstr>
      <vt:lpstr>Petrona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 SM</dc:creator>
  <cp:lastModifiedBy>Adithya SM</cp:lastModifiedBy>
  <cp:revision>1</cp:revision>
  <dcterms:created xsi:type="dcterms:W3CDTF">2026-07-26T06:01:51Z</dcterms:created>
  <dcterms:modified xsi:type="dcterms:W3CDTF">2026-07-26T06:09:04Z</dcterms:modified>
</cp:coreProperties>
</file>